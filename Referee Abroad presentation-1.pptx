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512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42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F4728B2-414F-6245-6140-C362A5024D6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580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137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holding Referee Abroad back from scaling further?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920240" cy="16459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920240" cy="45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Referees per year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100+ countries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06040" y="1188720"/>
            <a:ext cx="1920240" cy="16459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0"/>
          <p:cNvSpPr/>
          <p:nvPr/>
        </p:nvSpPr>
        <p:spPr>
          <a:xfrm>
            <a:off x="2606040" y="1188720"/>
            <a:ext cx="1920240" cy="45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1"/>
          <p:cNvSpPr/>
          <p:nvPr/>
        </p:nvSpPr>
        <p:spPr>
          <a:xfrm>
            <a:off x="26060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~5,000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7432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per season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20 questions, repeated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1188720"/>
            <a:ext cx="1920240" cy="16459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5"/>
          <p:cNvSpPr/>
          <p:nvPr/>
        </p:nvSpPr>
        <p:spPr>
          <a:xfrm>
            <a:off x="4754880" y="1188720"/>
            <a:ext cx="1920240" cy="45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Text 16"/>
          <p:cNvSpPr/>
          <p:nvPr/>
        </p:nvSpPr>
        <p:spPr>
          <a:xfrm>
            <a:off x="475488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2-24h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8920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response time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920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emails, DMs, WhatsApp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903720" y="1188720"/>
            <a:ext cx="1920240" cy="16459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20"/>
          <p:cNvSpPr/>
          <p:nvPr/>
        </p:nvSpPr>
        <p:spPr>
          <a:xfrm>
            <a:off x="6903720" y="1188720"/>
            <a:ext cx="1920240" cy="45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1"/>
          <p:cNvSpPr/>
          <p:nvPr/>
        </p:nvSpPr>
        <p:spPr>
          <a:xfrm>
            <a:off x="69037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704088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Countries, all timezones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0408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can't be online 24/7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" y="3108960"/>
            <a:ext cx="8229600" cy="173736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Shape 25"/>
          <p:cNvSpPr/>
          <p:nvPr/>
        </p:nvSpPr>
        <p:spPr>
          <a:xfrm>
            <a:off x="457200" y="3108960"/>
            <a:ext cx="8229600" cy="45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Text 26"/>
          <p:cNvSpPr/>
          <p:nvPr/>
        </p:nvSpPr>
        <p:spPr>
          <a:xfrm>
            <a:off x="68580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referees ask — over and over again: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80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the fee include?" — answered 500+ times/year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I need a visa for Portugal?" — different for every nationality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17, can I join?" — age rules vary per tournament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"Comment m'inscrire?" — needs answer in French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is travel organised?" — varies EU vs USA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does IberCup start?" — dates change annually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7452360" y="137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43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84632" y="7955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layer on top of Referee Abroad that handles the 80% — so staff handles the 20% that matters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2606040" cy="27432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2606040" cy="54864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1417320" y="1737360"/>
            <a:ext cx="822960" cy="82296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912" y="190195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3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31546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chatbot trained on RA's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base. Every language.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answers for referees.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29000" y="1463040"/>
            <a:ext cx="2606040" cy="27432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0"/>
          <p:cNvSpPr/>
          <p:nvPr/>
        </p:nvSpPr>
        <p:spPr>
          <a:xfrm>
            <a:off x="3429000" y="1463040"/>
            <a:ext cx="2606040" cy="54864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Shape 11"/>
          <p:cNvSpPr/>
          <p:nvPr/>
        </p:nvSpPr>
        <p:spPr>
          <a:xfrm>
            <a:off x="4297680" y="1737360"/>
            <a:ext cx="822960" cy="82296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190195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2900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3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INBOX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57600" y="31546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incoming emails.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replies automatically.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reviews and sends.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1463040"/>
            <a:ext cx="2606040" cy="27432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5"/>
          <p:cNvSpPr/>
          <p:nvPr/>
        </p:nvSpPr>
        <p:spPr>
          <a:xfrm>
            <a:off x="6309360" y="1463040"/>
            <a:ext cx="2606040" cy="54864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Shape 16"/>
          <p:cNvSpPr/>
          <p:nvPr/>
        </p:nvSpPr>
        <p:spPr>
          <a:xfrm>
            <a:off x="7178040" y="1737360"/>
            <a:ext cx="822960" cy="82296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190195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936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3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LEARNS &amp; IMPROVES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37960" y="31546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staff edit makes the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smarter. Over time, drafts need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and less correction.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2"/>
          <p:cNvSpPr/>
          <p:nvPr/>
        </p:nvSpPr>
        <p:spPr>
          <a:xfrm>
            <a:off x="4572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Referee Assistant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97280" y="621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that answers referee questions instantly — in any language, 24/7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4114800" cy="35661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457200" y="1051560"/>
            <a:ext cx="4114800" cy="41148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155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Referee Assistant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286000" y="164592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9"/>
          <p:cNvSpPr/>
          <p:nvPr/>
        </p:nvSpPr>
        <p:spPr>
          <a:xfrm>
            <a:off x="2377440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included in the fee?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0080" y="210312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4A8A2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1"/>
          <p:cNvSpPr/>
          <p:nvPr/>
        </p:nvSpPr>
        <p:spPr>
          <a:xfrm>
            <a:off x="777240" y="21305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 covers accommodation, meals,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kit, local transport, training sessions,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feedback, and on-site staff support.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645920" y="28803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Text 13"/>
          <p:cNvSpPr/>
          <p:nvPr/>
        </p:nvSpPr>
        <p:spPr>
          <a:xfrm>
            <a:off x="1737360" y="2898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Tengo 17 años, ¿puedo participar?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0080" y="333756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4A8A2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Text 15"/>
          <p:cNvSpPr/>
          <p:nvPr/>
        </p:nvSpPr>
        <p:spPr>
          <a:xfrm>
            <a:off x="777240" y="33649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¡Sí! La edad mínima es 16 años.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menor de 18, necesitas ir con un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adulto o presentar una carta de exención.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40080" y="4114800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Text 17"/>
          <p:cNvSpPr/>
          <p:nvPr/>
        </p:nvSpPr>
        <p:spPr>
          <a:xfrm>
            <a:off x="77724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anything... (any language)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14300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1097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Language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94960" y="1353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Referee from Japan? Answers in Japanese. From Brazil? Portuguese. Automatic detection — no setup needed.</a:t>
            </a:r>
            <a:endParaRPr lang="en-US" sz="9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01168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1965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Verified Answers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394960" y="2221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exclusively on RA's knowledge base: FAQ, tournament details, policies. Never makes up information.</a:t>
            </a:r>
            <a:endParaRPr lang="en-US" sz="9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88036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9496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Response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394960" y="30906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seconds instead of 2-24 hours. Works at 3 AM when a referee in Australia has a question.</a:t>
            </a:r>
            <a:endParaRPr lang="en-US" sz="9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7490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94960" y="3703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Volume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94960" y="3959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referee or 500 at once — same speed. No queue, no waiting, no staff bottleneck during peak season.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7452360" y="137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37160"/>
            <a:ext cx="502920" cy="5029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3"/>
          <p:cNvSpPr/>
          <p:nvPr/>
        </p:nvSpPr>
        <p:spPr>
          <a:xfrm>
            <a:off x="36576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182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Email Inbox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05840" y="640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every incoming email, classifies it, and drafts a reply — staff just reviews and clicks send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7"/>
          <p:cNvSpPr/>
          <p:nvPr/>
        </p:nvSpPr>
        <p:spPr>
          <a:xfrm>
            <a:off x="365760" y="1051560"/>
            <a:ext cx="54864" cy="82296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Shape 8"/>
          <p:cNvSpPr/>
          <p:nvPr/>
        </p:nvSpPr>
        <p:spPr>
          <a:xfrm>
            <a:off x="548640" y="114300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9"/>
          <p:cNvSpPr/>
          <p:nvPr/>
        </p:nvSpPr>
        <p:spPr>
          <a:xfrm>
            <a:off x="548640" y="1124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783080" y="1097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Rossi (Italy)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78308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IberCup Estoril — travel question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1097280"/>
            <a:ext cx="3931920" cy="502920"/>
          </a:xfrm>
          <a:prstGeom prst="roundRect">
            <a:avLst>
              <a:gd name="adj" fmla="val 7273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Text 13"/>
          <p:cNvSpPr/>
          <p:nvPr/>
        </p:nvSpPr>
        <p:spPr>
          <a:xfrm>
            <a:off x="4754880" y="1088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Draft: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7548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Marco, travel to IberCup Estoril is self-arranged. Fly to Lisbon Airport (LIS), then ta...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754880" y="1627632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Text 16"/>
          <p:cNvSpPr/>
          <p:nvPr/>
        </p:nvSpPr>
        <p:spPr>
          <a:xfrm>
            <a:off x="4754880" y="16276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Send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486400" y="1627632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44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Text 18"/>
          <p:cNvSpPr/>
          <p:nvPr/>
        </p:nvSpPr>
        <p:spPr>
          <a:xfrm>
            <a:off x="5486400" y="1627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 Edit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365760" y="2011680"/>
            <a:ext cx="8412480" cy="82296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20"/>
          <p:cNvSpPr/>
          <p:nvPr/>
        </p:nvSpPr>
        <p:spPr>
          <a:xfrm>
            <a:off x="365760" y="2011680"/>
            <a:ext cx="54864" cy="82296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Shape 21"/>
          <p:cNvSpPr/>
          <p:nvPr/>
        </p:nvSpPr>
        <p:spPr>
          <a:xfrm>
            <a:off x="548640" y="210312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5" name="Text 22"/>
          <p:cNvSpPr/>
          <p:nvPr/>
        </p:nvSpPr>
        <p:spPr>
          <a:xfrm>
            <a:off x="548640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783080" y="2057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Yuki Sato (Japan)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78308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年齢制限について教えてください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2057400"/>
            <a:ext cx="3931920" cy="502920"/>
          </a:xfrm>
          <a:prstGeom prst="roundRect">
            <a:avLst>
              <a:gd name="adj" fmla="val 7273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Text 26"/>
          <p:cNvSpPr/>
          <p:nvPr/>
        </p:nvSpPr>
        <p:spPr>
          <a:xfrm>
            <a:off x="4754880" y="20482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Draft: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7548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佐藤さん、こんにちは！ほとんどのトーナメントでは16歳以上が参加条件です。18歳未満の場合は、保護者の同伴または免責同意書が必要です。ヨーロッパ外のトーナメントでは18歳以上が必要...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754880" y="2587752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Text 29"/>
          <p:cNvSpPr/>
          <p:nvPr/>
        </p:nvSpPr>
        <p:spPr>
          <a:xfrm>
            <a:off x="4754880" y="25877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Send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486400" y="2587752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44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4" name="Text 31"/>
          <p:cNvSpPr/>
          <p:nvPr/>
        </p:nvSpPr>
        <p:spPr>
          <a:xfrm>
            <a:off x="5486400" y="25877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 Edit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365760" y="2971800"/>
            <a:ext cx="8412480" cy="82296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6" name="Shape 33"/>
          <p:cNvSpPr/>
          <p:nvPr/>
        </p:nvSpPr>
        <p:spPr>
          <a:xfrm>
            <a:off x="365760" y="2971800"/>
            <a:ext cx="54864" cy="82296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7" name="Shape 34"/>
          <p:cNvSpPr/>
          <p:nvPr/>
        </p:nvSpPr>
        <p:spPr>
          <a:xfrm>
            <a:off x="548640" y="306324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CC94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8" name="Text 35"/>
          <p:cNvSpPr/>
          <p:nvPr/>
        </p:nvSpPr>
        <p:spPr>
          <a:xfrm>
            <a:off x="54864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783080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Murphy (Ireland)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783080" y="3200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apply for 2 tournaments?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663440" y="3017520"/>
            <a:ext cx="3931920" cy="502920"/>
          </a:xfrm>
          <a:prstGeom prst="roundRect">
            <a:avLst>
              <a:gd name="adj" fmla="val 7273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2" name="Text 39"/>
          <p:cNvSpPr/>
          <p:nvPr/>
        </p:nvSpPr>
        <p:spPr>
          <a:xfrm>
            <a:off x="4754880" y="3008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Draft: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7548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Sarah, yes you can apply for multiple tournaments! Just note that the credit card guara...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4754880" y="3547872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5" name="Text 42"/>
          <p:cNvSpPr/>
          <p:nvPr/>
        </p:nvSpPr>
        <p:spPr>
          <a:xfrm>
            <a:off x="4754880" y="35478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Send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486400" y="3547872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44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7" name="Text 44"/>
          <p:cNvSpPr/>
          <p:nvPr/>
        </p:nvSpPr>
        <p:spPr>
          <a:xfrm>
            <a:off x="5486400" y="3547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 Edit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9" name="Shape 46"/>
          <p:cNvSpPr/>
          <p:nvPr/>
        </p:nvSpPr>
        <p:spPr>
          <a:xfrm>
            <a:off x="365760" y="3931920"/>
            <a:ext cx="54864" cy="82296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0" name="Shape 47"/>
          <p:cNvSpPr/>
          <p:nvPr/>
        </p:nvSpPr>
        <p:spPr>
          <a:xfrm>
            <a:off x="548640" y="402336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1" name="Text 48"/>
          <p:cNvSpPr/>
          <p:nvPr/>
        </p:nvSpPr>
        <p:spPr>
          <a:xfrm>
            <a:off x="548640" y="4005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1783080" y="3977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Pereira (Brazil)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783080" y="4160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 de visto para Portugal?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663440" y="3977640"/>
            <a:ext cx="3931920" cy="502920"/>
          </a:xfrm>
          <a:prstGeom prst="roundRect">
            <a:avLst>
              <a:gd name="adj" fmla="val 7273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5" name="Text 52"/>
          <p:cNvSpPr/>
          <p:nvPr/>
        </p:nvSpPr>
        <p:spPr>
          <a:xfrm>
            <a:off x="4754880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Draft: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47548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Olá Lucas, infelizmente a Referee Abroad não pode fornecer suporte para vistos ou cartas-c...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4754880" y="4507992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8" name="Text 55"/>
          <p:cNvSpPr/>
          <p:nvPr/>
        </p:nvSpPr>
        <p:spPr>
          <a:xfrm>
            <a:off x="4754880" y="45079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Send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5486400" y="4507992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44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0" name="Text 57"/>
          <p:cNvSpPr/>
          <p:nvPr/>
        </p:nvSpPr>
        <p:spPr>
          <a:xfrm>
            <a:off x="5486400" y="45079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 Edit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2" name="Text 59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Auto-classified  ·  Auto-drafted in the right language  ·  Staff reviews in 10 seconds instead of writing for 5 minutes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2"/>
          <p:cNvSpPr/>
          <p:nvPr/>
        </p:nvSpPr>
        <p:spPr>
          <a:xfrm>
            <a:off x="4572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Gets Smarter Over Time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97280" y="621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staff edit is a training signal — the system learns your tone, policies, and preferences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28016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731520" y="1280160"/>
            <a:ext cx="73152" cy="137160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554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arrives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4592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Referee asks a question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email or chat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0" y="128016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0"/>
          <p:cNvSpPr/>
          <p:nvPr/>
        </p:nvSpPr>
        <p:spPr>
          <a:xfrm>
            <a:off x="4572000" y="1280160"/>
            <a:ext cx="73152" cy="137160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554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reply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48640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knowledge 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learned preferences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0" y="301752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Shape 14"/>
          <p:cNvSpPr/>
          <p:nvPr/>
        </p:nvSpPr>
        <p:spPr>
          <a:xfrm>
            <a:off x="4572000" y="3017520"/>
            <a:ext cx="73152" cy="137160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918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reviews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4864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Approves, edits, 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rewrites the draft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31520" y="301752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Shape 18"/>
          <p:cNvSpPr/>
          <p:nvPr/>
        </p:nvSpPr>
        <p:spPr>
          <a:xfrm>
            <a:off x="731520" y="3017520"/>
            <a:ext cx="73152" cy="137160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29184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592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64592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correction 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reference</a:t>
            </a:r>
            <a:endParaRPr lang="en-US" sz="11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1783080"/>
            <a:ext cx="320040" cy="320040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6400800" y="2468880"/>
            <a:ext cx="320040" cy="320040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2286000" y="2468880"/>
            <a:ext cx="320040" cy="3200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86384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32" name="Text 22"/>
          <p:cNvSpPr/>
          <p:nvPr/>
        </p:nvSpPr>
        <p:spPr>
          <a:xfrm>
            <a:off x="50292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400" dirty="0"/>
          </a:p>
        </p:txBody>
      </p:sp>
      <p:sp>
        <p:nvSpPr>
          <p:cNvPr id="33" name="Text 23"/>
          <p:cNvSpPr/>
          <p:nvPr/>
        </p:nvSpPr>
        <p:spPr>
          <a:xfrm>
            <a:off x="411480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Text 24"/>
          <p:cNvSpPr/>
          <p:nvPr/>
        </p:nvSpPr>
        <p:spPr>
          <a:xfrm>
            <a:off x="411480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25"/>
          <p:cNvSpPr/>
          <p:nvPr/>
        </p:nvSpPr>
        <p:spPr>
          <a:xfrm>
            <a:off x="457200" y="4572000"/>
            <a:ext cx="822960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6" name="Shape 26"/>
          <p:cNvSpPr/>
          <p:nvPr/>
        </p:nvSpPr>
        <p:spPr>
          <a:xfrm>
            <a:off x="1280160" y="4434840"/>
            <a:ext cx="274320" cy="2743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7" name="Text 27"/>
          <p:cNvSpPr/>
          <p:nvPr/>
        </p:nvSpPr>
        <p:spPr>
          <a:xfrm>
            <a:off x="914400" y="4663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914400" y="4828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drafts approved as-is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023360" y="4434840"/>
            <a:ext cx="274320" cy="2743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0" name="Text 30"/>
          <p:cNvSpPr/>
          <p:nvPr/>
        </p:nvSpPr>
        <p:spPr>
          <a:xfrm>
            <a:off x="3657600" y="4663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3657600" y="4828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drafts approved as-is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6766560" y="4434840"/>
            <a:ext cx="274320" cy="2743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3" name="Text 33"/>
          <p:cNvSpPr/>
          <p:nvPr/>
        </p:nvSpPr>
        <p:spPr>
          <a:xfrm>
            <a:off x="6400800" y="4663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6400800" y="4828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 drafts approved as-is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7452360" y="137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37160"/>
            <a:ext cx="502920" cy="5029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3"/>
          <p:cNvSpPr/>
          <p:nvPr/>
        </p:nvSpPr>
        <p:spPr>
          <a:xfrm>
            <a:off x="36576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182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Workflows for RA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058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automation pipelines that eliminate repetitive work across the season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64008" cy="7315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527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Referee Onboarding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80160" y="1435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→ Profile check → Welcome email → Tournament suggestions → Assignment confirm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5" name="Shape 11"/>
          <p:cNvSpPr/>
          <p:nvPr/>
        </p:nvSpPr>
        <p:spPr>
          <a:xfrm>
            <a:off x="457200" y="2011680"/>
            <a:ext cx="64008" cy="7315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16712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Pre-Tournament Ops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80160" y="23500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docs reminder → Kit assignment → Venue briefing → Team allocation → Schedule push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5"/>
          <p:cNvSpPr/>
          <p:nvPr/>
        </p:nvSpPr>
        <p:spPr>
          <a:xfrm>
            <a:off x="457200" y="2926080"/>
            <a:ext cx="64008" cy="7315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8152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Post-Tournament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80160" y="32644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form → Observer scores → Performance report → Certificate → Social content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5" name="Shape 19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99592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Reporting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280160" y="4178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→ KPI aggregation → Report generation → PDF export → Auto-send to partners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4572000"/>
            <a:ext cx="822960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0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emails. Zero missed deadlines. Every referee gets a consistent, professional experience.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2"/>
          <p:cNvSpPr/>
          <p:nvPr/>
        </p:nvSpPr>
        <p:spPr>
          <a:xfrm>
            <a:off x="4572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Tournament Command Center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9728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operations hub — accessible on any device, for every staff member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801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Today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6400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venues active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9184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2801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8620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Referees On-Site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47472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347472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no-shows flagged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2648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2801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Match Rating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30936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8.4</a:t>
            </a:r>
            <a:endParaRPr lang="en-US" sz="3600" dirty="0"/>
          </a:p>
        </p:txBody>
      </p:sp>
      <p:sp>
        <p:nvSpPr>
          <p:cNvPr id="22" name="Text 16"/>
          <p:cNvSpPr/>
          <p:nvPr/>
        </p:nvSpPr>
        <p:spPr>
          <a:xfrm>
            <a:off x="63093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0.3 vs yesterday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28803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06324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Status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4008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3600" dirty="0"/>
          </a:p>
        </p:txBody>
      </p:sp>
      <p:sp>
        <p:nvSpPr>
          <p:cNvPr id="27" name="Text 20"/>
          <p:cNvSpPr/>
          <p:nvPr/>
        </p:nvSpPr>
        <p:spPr>
          <a:xfrm>
            <a:off x="64008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delay reported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291840" y="28803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063240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86200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Open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347472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32" name="Text 24"/>
          <p:cNvSpPr/>
          <p:nvPr/>
        </p:nvSpPr>
        <p:spPr>
          <a:xfrm>
            <a:off x="347472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resolved today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126480" y="28803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3063240"/>
            <a:ext cx="320040" cy="32004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20840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Done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630936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71%</a:t>
            </a:r>
            <a:endParaRPr lang="en-US" sz="3600" dirty="0"/>
          </a:p>
        </p:txBody>
      </p:sp>
      <p:sp>
        <p:nvSpPr>
          <p:cNvPr id="37" name="Text 28"/>
          <p:cNvSpPr/>
          <p:nvPr/>
        </p:nvSpPr>
        <p:spPr>
          <a:xfrm>
            <a:off x="630936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pending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5720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8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your tournament's mission control — real-time, mobile, no spreadsheets.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7452360" y="137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37160"/>
            <a:ext cx="502920" cy="5029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3"/>
          <p:cNvSpPr/>
          <p:nvPr/>
        </p:nvSpPr>
        <p:spPr>
          <a:xfrm>
            <a:off x="36576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Matching &amp; Predictions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3931920" cy="32004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Shape 7"/>
          <p:cNvSpPr/>
          <p:nvPr/>
        </p:nvSpPr>
        <p:spPr>
          <a:xfrm>
            <a:off x="2011680" y="1188720"/>
            <a:ext cx="731520" cy="7315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134416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Referee Matching Engine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" y="24688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Auto-suggest referee assignments based on: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level &amp; tournament tier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skills &amp; team nationalities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feedback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preference &amp; travel cost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tournament performance scores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960120"/>
            <a:ext cx="3931920" cy="32004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5" name="Shape 11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Shape 12"/>
          <p:cNvSpPr/>
          <p:nvPr/>
        </p:nvSpPr>
        <p:spPr>
          <a:xfrm>
            <a:off x="6309360" y="1188720"/>
            <a:ext cx="731520" cy="73152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34416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3776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029200" y="24688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 before they're urgent: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Referee churn prediction — who's at risk?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demand forecasting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probability per assignment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pricing per tournament tier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impact on outdoor events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137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Automation Engine I Built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live data sources  →  n8n  →  automated actions &amp; AI reports 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914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23444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5"/>
          <p:cNvSpPr/>
          <p:nvPr/>
        </p:nvSpPr>
        <p:spPr>
          <a:xfrm>
            <a:off x="274320" y="123444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6"/>
          <p:cNvSpPr/>
          <p:nvPr/>
        </p:nvSpPr>
        <p:spPr>
          <a:xfrm>
            <a:off x="411480" y="12893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 &amp; Revenue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4320" y="160020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Shape 8"/>
          <p:cNvSpPr/>
          <p:nvPr/>
        </p:nvSpPr>
        <p:spPr>
          <a:xfrm>
            <a:off x="274320" y="160020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9"/>
          <p:cNvSpPr/>
          <p:nvPr/>
        </p:nvSpPr>
        <p:spPr>
          <a:xfrm>
            <a:off x="411480" y="16550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Scheduling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4320" y="196596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1"/>
          <p:cNvSpPr/>
          <p:nvPr/>
        </p:nvSpPr>
        <p:spPr>
          <a:xfrm>
            <a:off x="274320" y="196596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2"/>
          <p:cNvSpPr/>
          <p:nvPr/>
        </p:nvSpPr>
        <p:spPr>
          <a:xfrm>
            <a:off x="411480" y="2020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Sensors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233172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Shape 14"/>
          <p:cNvSpPr/>
          <p:nvPr/>
        </p:nvSpPr>
        <p:spPr>
          <a:xfrm>
            <a:off x="274320" y="233172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5"/>
          <p:cNvSpPr/>
          <p:nvPr/>
        </p:nvSpPr>
        <p:spPr>
          <a:xfrm>
            <a:off x="411480" y="2386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Solar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269748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0" name="Shape 17"/>
          <p:cNvSpPr/>
          <p:nvPr/>
        </p:nvSpPr>
        <p:spPr>
          <a:xfrm>
            <a:off x="274320" y="269748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Text 18"/>
          <p:cNvSpPr/>
          <p:nvPr/>
        </p:nvSpPr>
        <p:spPr>
          <a:xfrm>
            <a:off x="411480" y="27523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Swimming Lessons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306324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3" name="Shape 20"/>
          <p:cNvSpPr/>
          <p:nvPr/>
        </p:nvSpPr>
        <p:spPr>
          <a:xfrm>
            <a:off x="274320" y="306324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1"/>
          <p:cNvSpPr/>
          <p:nvPr/>
        </p:nvSpPr>
        <p:spPr>
          <a:xfrm>
            <a:off x="411480" y="3118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342900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Shape 23"/>
          <p:cNvSpPr/>
          <p:nvPr/>
        </p:nvSpPr>
        <p:spPr>
          <a:xfrm>
            <a:off x="274320" y="342900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7" name="Text 24"/>
          <p:cNvSpPr/>
          <p:nvPr/>
        </p:nvSpPr>
        <p:spPr>
          <a:xfrm>
            <a:off x="411480" y="34838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Reviews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74320" y="379476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Shape 26"/>
          <p:cNvSpPr/>
          <p:nvPr/>
        </p:nvSpPr>
        <p:spPr>
          <a:xfrm>
            <a:off x="274320" y="379476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0" name="Text 27"/>
          <p:cNvSpPr/>
          <p:nvPr/>
        </p:nvSpPr>
        <p:spPr>
          <a:xfrm>
            <a:off x="411480" y="3849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Screens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" y="416052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Shape 29"/>
          <p:cNvSpPr/>
          <p:nvPr/>
        </p:nvSpPr>
        <p:spPr>
          <a:xfrm>
            <a:off x="274320" y="416052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3" name="Text 30"/>
          <p:cNvSpPr/>
          <p:nvPr/>
        </p:nvSpPr>
        <p:spPr>
          <a:xfrm>
            <a:off x="411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74320" y="4526280"/>
            <a:ext cx="219456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5" name="Shape 32"/>
          <p:cNvSpPr/>
          <p:nvPr/>
        </p:nvSpPr>
        <p:spPr>
          <a:xfrm>
            <a:off x="274320" y="452628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6" name="Text 33"/>
          <p:cNvSpPr/>
          <p:nvPr/>
        </p:nvSpPr>
        <p:spPr>
          <a:xfrm>
            <a:off x="411480" y="4581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Logs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468880" y="1645920"/>
            <a:ext cx="548640" cy="0"/>
          </a:xfrm>
          <a:prstGeom prst="line">
            <a:avLst/>
          </a:prstGeom>
          <a:noFill/>
          <a:ln w="19050">
            <a:solidFill>
              <a:srgbClr val="6CB3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Shape 35"/>
          <p:cNvSpPr/>
          <p:nvPr/>
        </p:nvSpPr>
        <p:spPr>
          <a:xfrm>
            <a:off x="2468880" y="2377440"/>
            <a:ext cx="548640" cy="0"/>
          </a:xfrm>
          <a:prstGeom prst="line">
            <a:avLst/>
          </a:prstGeom>
          <a:noFill/>
          <a:ln w="19050">
            <a:solidFill>
              <a:srgbClr val="6CB3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9" name="Shape 36"/>
          <p:cNvSpPr/>
          <p:nvPr/>
        </p:nvSpPr>
        <p:spPr>
          <a:xfrm>
            <a:off x="2468880" y="3108960"/>
            <a:ext cx="548640" cy="0"/>
          </a:xfrm>
          <a:prstGeom prst="line">
            <a:avLst/>
          </a:prstGeom>
          <a:noFill/>
          <a:ln w="19050">
            <a:solidFill>
              <a:srgbClr val="6CB3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0" name="Shape 37"/>
          <p:cNvSpPr/>
          <p:nvPr/>
        </p:nvSpPr>
        <p:spPr>
          <a:xfrm>
            <a:off x="2468880" y="3840480"/>
            <a:ext cx="548640" cy="0"/>
          </a:xfrm>
          <a:prstGeom prst="line">
            <a:avLst/>
          </a:prstGeom>
          <a:noFill/>
          <a:ln w="19050">
            <a:solidFill>
              <a:srgbClr val="6CB3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1" name="Shape 38"/>
          <p:cNvSpPr/>
          <p:nvPr/>
        </p:nvSpPr>
        <p:spPr>
          <a:xfrm>
            <a:off x="3017520" y="1371600"/>
            <a:ext cx="3017520" cy="292608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2" name="Shape 39"/>
          <p:cNvSpPr/>
          <p:nvPr/>
        </p:nvSpPr>
        <p:spPr>
          <a:xfrm>
            <a:off x="3017520" y="1371600"/>
            <a:ext cx="3017520" cy="54864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3" name="Shape 40"/>
          <p:cNvSpPr/>
          <p:nvPr/>
        </p:nvSpPr>
        <p:spPr>
          <a:xfrm>
            <a:off x="3017520" y="4242816"/>
            <a:ext cx="3017520" cy="54864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4" name="Shape 41"/>
          <p:cNvSpPr/>
          <p:nvPr/>
        </p:nvSpPr>
        <p:spPr>
          <a:xfrm>
            <a:off x="4069080" y="1600200"/>
            <a:ext cx="914400" cy="914400"/>
          </a:xfrm>
          <a:prstGeom prst="ellipse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828800"/>
            <a:ext cx="457200" cy="45720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320040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n8n</a:t>
            </a:r>
            <a:endParaRPr lang="en-US" sz="2200" dirty="0"/>
          </a:p>
        </p:txBody>
      </p:sp>
      <p:sp>
        <p:nvSpPr>
          <p:cNvPr id="47" name="Text 43"/>
          <p:cNvSpPr/>
          <p:nvPr/>
        </p:nvSpPr>
        <p:spPr>
          <a:xfrm>
            <a:off x="3200400" y="2880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HUB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3291840" y="3246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tables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4389120" y="3246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430K+ rows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3200400" y="3703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auto-sync  ·  Real-time alerts  ·  AI analysis</a:t>
            </a:r>
            <a:endParaRPr lang="en-US" sz="700" dirty="0"/>
          </a:p>
        </p:txBody>
      </p:sp>
      <p:sp>
        <p:nvSpPr>
          <p:cNvPr id="51" name="Shape 47"/>
          <p:cNvSpPr/>
          <p:nvPr/>
        </p:nvSpPr>
        <p:spPr>
          <a:xfrm>
            <a:off x="6035040" y="1645920"/>
            <a:ext cx="548640" cy="0"/>
          </a:xfrm>
          <a:prstGeom prst="line">
            <a:avLst/>
          </a:prstGeom>
          <a:noFill/>
          <a:ln w="19050">
            <a:solidFill>
              <a:srgbClr val="6CB3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2" name="Shape 48"/>
          <p:cNvSpPr/>
          <p:nvPr/>
        </p:nvSpPr>
        <p:spPr>
          <a:xfrm>
            <a:off x="6035040" y="2377440"/>
            <a:ext cx="548640" cy="0"/>
          </a:xfrm>
          <a:prstGeom prst="line">
            <a:avLst/>
          </a:prstGeom>
          <a:noFill/>
          <a:ln w="19050">
            <a:solidFill>
              <a:srgbClr val="6CB3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3" name="Shape 49"/>
          <p:cNvSpPr/>
          <p:nvPr/>
        </p:nvSpPr>
        <p:spPr>
          <a:xfrm>
            <a:off x="6035040" y="3108960"/>
            <a:ext cx="548640" cy="0"/>
          </a:xfrm>
          <a:prstGeom prst="line">
            <a:avLst/>
          </a:prstGeom>
          <a:noFill/>
          <a:ln w="19050">
            <a:solidFill>
              <a:srgbClr val="6CB3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4" name="Shape 50"/>
          <p:cNvSpPr/>
          <p:nvPr/>
        </p:nvSpPr>
        <p:spPr>
          <a:xfrm>
            <a:off x="6035040" y="3840480"/>
            <a:ext cx="548640" cy="0"/>
          </a:xfrm>
          <a:prstGeom prst="line">
            <a:avLst/>
          </a:prstGeom>
          <a:noFill/>
          <a:ln w="19050">
            <a:solidFill>
              <a:srgbClr val="6CB33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5" name="Text 51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OUTPUTS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6583680" y="123444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7" name="Shape 53"/>
          <p:cNvSpPr/>
          <p:nvPr/>
        </p:nvSpPr>
        <p:spPr>
          <a:xfrm>
            <a:off x="8823960" y="123444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8" name="Text 54"/>
          <p:cNvSpPr/>
          <p:nvPr/>
        </p:nvSpPr>
        <p:spPr>
          <a:xfrm>
            <a:off x="6720840" y="1289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Briefing</a:t>
            </a:r>
            <a:endParaRPr lang="en-US" sz="850" dirty="0"/>
          </a:p>
        </p:txBody>
      </p:sp>
      <p:sp>
        <p:nvSpPr>
          <p:cNvPr id="59" name="Shape 55"/>
          <p:cNvSpPr/>
          <p:nvPr/>
        </p:nvSpPr>
        <p:spPr>
          <a:xfrm>
            <a:off x="6583680" y="160020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0" name="Shape 56"/>
          <p:cNvSpPr/>
          <p:nvPr/>
        </p:nvSpPr>
        <p:spPr>
          <a:xfrm>
            <a:off x="8823960" y="160020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1" name="Text 57"/>
          <p:cNvSpPr/>
          <p:nvPr/>
        </p:nvSpPr>
        <p:spPr>
          <a:xfrm>
            <a:off x="6720840" y="16550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Alerts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6583680" y="196596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3" name="Shape 59"/>
          <p:cNvSpPr/>
          <p:nvPr/>
        </p:nvSpPr>
        <p:spPr>
          <a:xfrm>
            <a:off x="8823960" y="196596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4" name="Text 60"/>
          <p:cNvSpPr/>
          <p:nvPr/>
        </p:nvSpPr>
        <p:spPr>
          <a:xfrm>
            <a:off x="6720840" y="2020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Model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6583680" y="233172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6" name="Shape 62"/>
          <p:cNvSpPr/>
          <p:nvPr/>
        </p:nvSpPr>
        <p:spPr>
          <a:xfrm>
            <a:off x="8823960" y="233172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7" name="Text 63"/>
          <p:cNvSpPr/>
          <p:nvPr/>
        </p:nvSpPr>
        <p:spPr>
          <a:xfrm>
            <a:off x="6720840" y="23865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Dashboards</a:t>
            </a:r>
            <a:endParaRPr lang="en-US" sz="850" dirty="0"/>
          </a:p>
        </p:txBody>
      </p:sp>
      <p:sp>
        <p:nvSpPr>
          <p:cNvPr id="68" name="Shape 64"/>
          <p:cNvSpPr/>
          <p:nvPr/>
        </p:nvSpPr>
        <p:spPr>
          <a:xfrm>
            <a:off x="6583680" y="269748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9" name="Shape 65"/>
          <p:cNvSpPr/>
          <p:nvPr/>
        </p:nvSpPr>
        <p:spPr>
          <a:xfrm>
            <a:off x="8823960" y="269748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0" name="Text 66"/>
          <p:cNvSpPr/>
          <p:nvPr/>
        </p:nvSpPr>
        <p:spPr>
          <a:xfrm>
            <a:off x="6720840" y="27523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Detection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6583680" y="306324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2" name="Shape 68"/>
          <p:cNvSpPr/>
          <p:nvPr/>
        </p:nvSpPr>
        <p:spPr>
          <a:xfrm>
            <a:off x="8823960" y="306324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3" name="Text 69"/>
          <p:cNvSpPr/>
          <p:nvPr/>
        </p:nvSpPr>
        <p:spPr>
          <a:xfrm>
            <a:off x="6720840" y="31181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Correlation</a:t>
            </a:r>
            <a:endParaRPr lang="en-US" sz="850" dirty="0"/>
          </a:p>
        </p:txBody>
      </p:sp>
      <p:sp>
        <p:nvSpPr>
          <p:cNvPr id="74" name="Shape 70"/>
          <p:cNvSpPr/>
          <p:nvPr/>
        </p:nvSpPr>
        <p:spPr>
          <a:xfrm>
            <a:off x="6583680" y="342900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5" name="Shape 71"/>
          <p:cNvSpPr/>
          <p:nvPr/>
        </p:nvSpPr>
        <p:spPr>
          <a:xfrm>
            <a:off x="8823960" y="342900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6" name="Text 72"/>
          <p:cNvSpPr/>
          <p:nvPr/>
        </p:nvSpPr>
        <p:spPr>
          <a:xfrm>
            <a:off x="6720840" y="3483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 (MCP)</a:t>
            </a:r>
            <a:endParaRPr lang="en-US" sz="850" dirty="0"/>
          </a:p>
        </p:txBody>
      </p:sp>
      <p:sp>
        <p:nvSpPr>
          <p:cNvPr id="77" name="Shape 73"/>
          <p:cNvSpPr/>
          <p:nvPr/>
        </p:nvSpPr>
        <p:spPr>
          <a:xfrm>
            <a:off x="6583680" y="379476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8" name="Shape 74"/>
          <p:cNvSpPr/>
          <p:nvPr/>
        </p:nvSpPr>
        <p:spPr>
          <a:xfrm>
            <a:off x="8823960" y="379476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9" name="Text 75"/>
          <p:cNvSpPr/>
          <p:nvPr/>
        </p:nvSpPr>
        <p:spPr>
          <a:xfrm>
            <a:off x="6720840" y="38496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Reports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6583680" y="416052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1" name="Shape 77"/>
          <p:cNvSpPr/>
          <p:nvPr/>
        </p:nvSpPr>
        <p:spPr>
          <a:xfrm>
            <a:off x="8823960" y="416052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2" name="Text 78"/>
          <p:cNvSpPr/>
          <p:nvPr/>
        </p:nvSpPr>
        <p:spPr>
          <a:xfrm>
            <a:off x="6720840" y="4215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Content</a:t>
            </a:r>
            <a:endParaRPr lang="en-US" sz="850" dirty="0"/>
          </a:p>
        </p:txBody>
      </p:sp>
      <p:sp>
        <p:nvSpPr>
          <p:cNvPr id="83" name="Shape 79"/>
          <p:cNvSpPr/>
          <p:nvPr/>
        </p:nvSpPr>
        <p:spPr>
          <a:xfrm>
            <a:off x="6583680" y="4526280"/>
            <a:ext cx="2286000" cy="310896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4" name="Shape 80"/>
          <p:cNvSpPr/>
          <p:nvPr/>
        </p:nvSpPr>
        <p:spPr>
          <a:xfrm>
            <a:off x="8823960" y="4526280"/>
            <a:ext cx="45720" cy="310896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5" name="Text 81"/>
          <p:cNvSpPr/>
          <p:nvPr/>
        </p:nvSpPr>
        <p:spPr>
          <a:xfrm>
            <a:off x="6720840" y="45811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Alerts</a:t>
            </a:r>
            <a:endParaRPr lang="en-US" sz="850" dirty="0"/>
          </a:p>
        </p:txBody>
      </p:sp>
      <p:sp>
        <p:nvSpPr>
          <p:cNvPr id="86" name="Text 82"/>
          <p:cNvSpPr/>
          <p:nvPr/>
        </p:nvSpPr>
        <p:spPr>
          <a:xfrm>
            <a:off x="274320" y="4882895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running autonomously. Every single day. Zero manual intervention.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Example: Morning Briefing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n8n workflow that runs at 6:30 AM every day — fully automated, AI-generated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1417320" cy="1097280"/>
          </a:xfrm>
          <a:prstGeom prst="rect">
            <a:avLst/>
          </a:prstGeom>
          <a:solidFill>
            <a:srgbClr val="4A8A2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" name="Shape 4"/>
          <p:cNvSpPr/>
          <p:nvPr/>
        </p:nvSpPr>
        <p:spPr>
          <a:xfrm>
            <a:off x="960120" y="11155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5"/>
          <p:cNvSpPr/>
          <p:nvPr/>
        </p:nvSpPr>
        <p:spPr>
          <a:xfrm>
            <a:off x="96012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6:30 AM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146304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94560" y="1051560"/>
            <a:ext cx="1417320" cy="1097280"/>
          </a:xfrm>
          <a:prstGeom prst="rect">
            <a:avLst/>
          </a:prstGeom>
          <a:solidFill>
            <a:srgbClr val="4A8A2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9"/>
          <p:cNvSpPr/>
          <p:nvPr/>
        </p:nvSpPr>
        <p:spPr>
          <a:xfrm>
            <a:off x="2697480" y="11155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0"/>
          <p:cNvSpPr/>
          <p:nvPr/>
        </p:nvSpPr>
        <p:spPr>
          <a:xfrm>
            <a:off x="269748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194560" y="1554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9456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API calls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parallel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463040"/>
            <a:ext cx="201168" cy="201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931920" y="1051560"/>
            <a:ext cx="1417320" cy="1097280"/>
          </a:xfrm>
          <a:prstGeom prst="rect">
            <a:avLst/>
          </a:prstGeom>
          <a:solidFill>
            <a:srgbClr val="6CB33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Shape 14"/>
          <p:cNvSpPr/>
          <p:nvPr/>
        </p:nvSpPr>
        <p:spPr>
          <a:xfrm>
            <a:off x="4434840" y="11155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0" name="Text 15"/>
          <p:cNvSpPr/>
          <p:nvPr/>
        </p:nvSpPr>
        <p:spPr>
          <a:xfrm>
            <a:off x="443484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931920" y="1554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93192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463040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669280" y="1051560"/>
            <a:ext cx="1417320" cy="1097280"/>
          </a:xfrm>
          <a:prstGeom prst="rect">
            <a:avLst/>
          </a:prstGeom>
          <a:solidFill>
            <a:srgbClr val="6CB33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5" name="Shape 19"/>
          <p:cNvSpPr/>
          <p:nvPr/>
        </p:nvSpPr>
        <p:spPr>
          <a:xfrm>
            <a:off x="6172200" y="11155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0"/>
          <p:cNvSpPr/>
          <p:nvPr/>
        </p:nvSpPr>
        <p:spPr>
          <a:xfrm>
            <a:off x="617220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669280" y="1554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66928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writes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463040"/>
            <a:ext cx="201168" cy="20116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7406640" y="1051560"/>
            <a:ext cx="1417320" cy="1097280"/>
          </a:xfrm>
          <a:prstGeom prst="rect">
            <a:avLst/>
          </a:prstGeom>
          <a:solidFill>
            <a:srgbClr val="6CB33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1" name="Shape 24"/>
          <p:cNvSpPr/>
          <p:nvPr/>
        </p:nvSpPr>
        <p:spPr>
          <a:xfrm>
            <a:off x="7909560" y="11155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Text 25"/>
          <p:cNvSpPr/>
          <p:nvPr/>
        </p:nvSpPr>
        <p:spPr>
          <a:xfrm>
            <a:off x="790956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8A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7406640" y="1554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40664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staff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database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57200" y="23774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6" name="Shape 29"/>
          <p:cNvSpPr/>
          <p:nvPr/>
        </p:nvSpPr>
        <p:spPr>
          <a:xfrm>
            <a:off x="457200" y="2377440"/>
            <a:ext cx="393192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7" name="Text 30"/>
          <p:cNvSpPr/>
          <p:nvPr/>
        </p:nvSpPr>
        <p:spPr>
          <a:xfrm>
            <a:off x="64008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Parallel data collection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40080" y="28346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Today's staff schedule (shifts, departments, hours)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640080" y="30358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 forecast (temperature, precipitation)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640080" y="32369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Last week's planned vs actual hours per dept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640080" y="34381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alerts (equipment, solar, screens)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640080" y="36393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Yesterday's visitor count &amp; revenue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640080" y="38404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maintenance issues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640080" y="40416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Swimming lesson attendance trends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640080" y="42428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Energy consumption vs solar production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663440" y="2377440"/>
            <a:ext cx="4114800" cy="21945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7" name="Shape 40"/>
          <p:cNvSpPr/>
          <p:nvPr/>
        </p:nvSpPr>
        <p:spPr>
          <a:xfrm>
            <a:off x="4663440" y="2377440"/>
            <a:ext cx="4114800" cy="36576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423160"/>
            <a:ext cx="256032" cy="25603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074920" y="240487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actual output (March 23, 2026)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4846320" y="2880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Briefing — Monday March 23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4846320" y="31089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 today: 22 employees across 4 departments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 tomorrow: Dry, 8-13°C, 0% rain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Active alerts: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🔴 15 digital screens offline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🔴 Clock-in registration error detected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Priority: fix time registration, escalate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screens to maintenance team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A8A2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3" name="Text 4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system — adapted for tournament briefings, referee updates, and federation reports — is what I'd build for RA.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7452360" y="137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Proof: What I Built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 de Bruijn Zwembad  —  200,000+ visitors/year  —  live since January 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920240" cy="192024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192024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280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59436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days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break-even model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06040" y="1097280"/>
            <a:ext cx="1920240" cy="192024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9"/>
          <p:cNvSpPr/>
          <p:nvPr/>
        </p:nvSpPr>
        <p:spPr>
          <a:xfrm>
            <a:off x="2606040" y="1097280"/>
            <a:ext cx="192024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1280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0604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14h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274320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profitability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per day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1097280"/>
            <a:ext cx="1920240" cy="192024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3"/>
          <p:cNvSpPr/>
          <p:nvPr/>
        </p:nvSpPr>
        <p:spPr>
          <a:xfrm>
            <a:off x="4754880" y="1097280"/>
            <a:ext cx="192024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12801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5488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489204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revenue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visitor trends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903720" y="1097280"/>
            <a:ext cx="1920240" cy="192024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17"/>
          <p:cNvSpPr/>
          <p:nvPr/>
        </p:nvSpPr>
        <p:spPr>
          <a:xfrm>
            <a:off x="6903720" y="1097280"/>
            <a:ext cx="192024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28016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0372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C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€856K</a:t>
            </a:r>
            <a:endParaRPr lang="en-US" sz="3000" dirty="0"/>
          </a:p>
        </p:txBody>
      </p:sp>
      <p:sp>
        <p:nvSpPr>
          <p:cNvPr id="26" name="Text 19"/>
          <p:cNvSpPr/>
          <p:nvPr/>
        </p:nvSpPr>
        <p:spPr>
          <a:xfrm>
            <a:off x="704088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tracked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analysed (2025)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Shape 21"/>
          <p:cNvSpPr/>
          <p:nvPr/>
        </p:nvSpPr>
        <p:spPr>
          <a:xfrm>
            <a:off x="457200" y="3246120"/>
            <a:ext cx="822960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Text 22"/>
          <p:cNvSpPr/>
          <p:nvPr/>
        </p:nvSpPr>
        <p:spPr>
          <a:xfrm>
            <a:off x="68580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I built: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85800" y="3703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Break-even analysis dashboard (daily, auto-updated)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85800" y="3977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Weather-revenue correlation model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85800" y="4251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Hourly profitability &amp; staff cost optimization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0" y="3703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Hospitality conversion tracking (15 months)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0" y="3977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n8n automation pipelines for alerts &amp; reporting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0" y="4251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chatbot for internal queries (MCP-powered)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KHS Cup Malta Connection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 pipeline to new tournament partnerships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73152" cy="292608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344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216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KHS Cup?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1691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youth tournament in Malta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clubs, multiple age categories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Rapidly growing — expanding formats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their Commercial Coordinator NL and BE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relationships with club contacts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05156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8"/>
          <p:cNvSpPr/>
          <p:nvPr/>
        </p:nvSpPr>
        <p:spPr>
          <a:xfrm>
            <a:off x="4754880" y="1051560"/>
            <a:ext cx="73152" cy="292608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344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1216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 Referee Abroad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120640" y="1691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intro to KHS Cup as RA partner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tournament organisers in my network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NL/Belgium club connections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On-the-ground Benelux presence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NL Country Representative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6CB33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 rot="900000">
            <a:off x="5943600" y="-457200"/>
            <a:ext cx="4572000" cy="3200400"/>
          </a:xfrm>
          <a:prstGeom prst="rect">
            <a:avLst/>
          </a:prstGeom>
          <a:solidFill>
            <a:srgbClr val="4A8A2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3108960" y="2286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20040"/>
            <a:ext cx="274320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Make It Happen</a:t>
            </a:r>
            <a:endParaRPr lang="en-US" sz="3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10896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2608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role scope and starting point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5478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26080" y="3502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pilot: referee assistant + smart inbox as proof of concept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98678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26080" y="39410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KHS Cup ↔ Referee Abroad as tournament partner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1418</Words>
  <Application>Microsoft Office PowerPoint</Application>
  <PresentationFormat>Bildschirmpräsentation (16:9)</PresentationFormat>
  <Paragraphs>290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 van der Wilk × Referee Abroad</dc:title>
  <dc:subject>PptxGenJS Presentation</dc:subject>
  <dc:creator>Sem van der Wilk</dc:creator>
  <cp:lastModifiedBy>Oleszkiewicz, Lukasz (BC-2)</cp:lastModifiedBy>
  <cp:revision>6</cp:revision>
  <dcterms:created xsi:type="dcterms:W3CDTF">2026-03-23T22:36:49Z</dcterms:created>
  <dcterms:modified xsi:type="dcterms:W3CDTF">2026-07-23T06:25:23Z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INTERNAL</vt:lpwstr>
  </property>
</Properties>
</file>